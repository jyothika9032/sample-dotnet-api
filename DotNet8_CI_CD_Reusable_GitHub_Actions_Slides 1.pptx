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1" r:id="rId2"/>
    <p:sldId id="2563" r:id="rId3"/>
    <p:sldId id="2564" r:id="rId4"/>
    <p:sldId id="2566" r:id="rId5"/>
    <p:sldId id="2567" r:id="rId6"/>
    <p:sldId id="2569" r:id="rId7"/>
    <p:sldId id="257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T 8 CI/CD with Reusable GitHub Actions" id="{15D0BBCE-799A-4036-BB73-7A26B8A1BC25}">
          <p14:sldIdLst>
            <p14:sldId id="2561"/>
          </p14:sldIdLst>
        </p14:section>
        <p14:section name="Overview and Goals" id="{F2D5CDB5-8F02-4498-B944-4621705AD86D}">
          <p14:sldIdLst>
            <p14:sldId id="2563"/>
            <p14:sldId id="2564"/>
          </p14:sldIdLst>
        </p14:section>
        <p14:section name="Architecture and Reusability" id="{D87C35DC-AF8C-43BB-8143-735A2BC0B487}">
          <p14:sldIdLst>
            <p14:sldId id="2566"/>
            <p14:sldId id="2567"/>
          </p14:sldIdLst>
        </p14:section>
        <p14:section name="Implementation and Operations" id="{DEE528E2-F07C-476A-B876-F7C5FDA4B666}">
          <p14:sldIdLst>
            <p14:sldId id="2569"/>
            <p14:sldId id="25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DADC6-130E-4B1D-80C1-9AAAEA0C94A1}" type="datetimeFigureOut">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B41441-4BD9-42FA-9B7C-9B17169EBE61}" type="slidenum">
              <a:t>‹#›</a:t>
            </a:fld>
            <a:endParaRPr lang="en-US"/>
          </a:p>
        </p:txBody>
      </p:sp>
    </p:spTree>
    <p:extLst>
      <p:ext uri="{BB962C8B-B14F-4D97-AF65-F5344CB8AC3E}">
        <p14:creationId xmlns:p14="http://schemas.microsoft.com/office/powerpoint/2010/main" val="1204802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A4EFBE43-D114-44C1-8ACD-153443E2224C}" type="slidenum">
              <a:t>1</a:t>
            </a:fld>
            <a:endParaRPr lang="en-US"/>
          </a:p>
        </p:txBody>
      </p:sp>
    </p:spTree>
    <p:extLst>
      <p:ext uri="{BB962C8B-B14F-4D97-AF65-F5344CB8AC3E}">
        <p14:creationId xmlns:p14="http://schemas.microsoft.com/office/powerpoint/2010/main" val="2677409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proof-of-concept demonstrates a modern, reusable, and scalable CI/CD approach for .NET 8 applications using GitHub Actions. The architecture is intentionally designed to separate reusable CI/CD logic from application code by leveraging GitHub Actions reusable workflows through workflow_call. All pipeline intelligence—including build, test, publish, Docker build and push, and deployment—is centralized in a dedicated templates repository known as REPO1. The application repository, REPO2, remains intentionally lightweight, containing only the application source code, Dockerfile, and thin workflow callers that invoke the shared templates. This separation allows multiple application teams to standardize CI/CD practices while minimizing duplication and maintenance effort. The goal of the POC is to demonstrate how to create both repositories from scratch, push code from local development environments, execute CI stages such as build, test, and publish, build and push Docker images, and optionally trigger deployment workflows using a consistent and governed pipeline strategy.</a:t>
            </a:r>
          </a:p>
        </p:txBody>
      </p:sp>
      <p:sp>
        <p:nvSpPr>
          <p:cNvPr id="4" name="Slide Number Placeholder 3"/>
          <p:cNvSpPr>
            <a:spLocks noGrp="1"/>
          </p:cNvSpPr>
          <p:nvPr>
            <p:ph type="sldNum" sz="quarter" idx="5"/>
          </p:nvPr>
        </p:nvSpPr>
        <p:spPr/>
        <p:txBody>
          <a:bodyPr/>
          <a:lstStyle/>
          <a:p>
            <a:fld id="{A4EFBE43-D114-44C1-8ACD-153443E2224C}" type="slidenum">
              <a:t>2</a:t>
            </a:fld>
            <a:endParaRPr lang="en-US"/>
          </a:p>
        </p:txBody>
      </p:sp>
    </p:spTree>
    <p:extLst>
      <p:ext uri="{BB962C8B-B14F-4D97-AF65-F5344CB8AC3E}">
        <p14:creationId xmlns:p14="http://schemas.microsoft.com/office/powerpoint/2010/main" val="847575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objectives of this CI/CD implementation are to establish a clean two-repository model, demonstrate reusable GitHub Actions workflows, and enable consistent automation across projects. The process begins with creating REPO1 to host all reusable workflow templates and REPO2 to host the .NET 8 application. From there, developers push code locally to trigger CI pipelines automatically on push or pull requests. The workflows orchestrate build, test, publish, and Docker image creation, with optional Docker push to a registry. The design also supports optional deployment workflows, allowing organizations to extend automation to infrastructure and runtime environments. Together, these goals ensure scalability, maintainability, and standardized CI/CD execution across multiple teams and projects.</a:t>
            </a:r>
          </a:p>
        </p:txBody>
      </p:sp>
      <p:sp>
        <p:nvSpPr>
          <p:cNvPr id="4" name="Slide Number Placeholder 3"/>
          <p:cNvSpPr>
            <a:spLocks noGrp="1"/>
          </p:cNvSpPr>
          <p:nvPr>
            <p:ph type="sldNum" sz="quarter" idx="5"/>
          </p:nvPr>
        </p:nvSpPr>
        <p:spPr/>
        <p:txBody>
          <a:bodyPr/>
          <a:lstStyle/>
          <a:p>
            <a:fld id="{A4EFBE43-D114-44C1-8ACD-153443E2224C}" type="slidenum">
              <a:t>3</a:t>
            </a:fld>
            <a:endParaRPr lang="en-US"/>
          </a:p>
        </p:txBody>
      </p:sp>
    </p:spTree>
    <p:extLst>
      <p:ext uri="{BB962C8B-B14F-4D97-AF65-F5344CB8AC3E}">
        <p14:creationId xmlns:p14="http://schemas.microsoft.com/office/powerpoint/2010/main" val="2874000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solution is built on a clear two-repository architecture that separates concerns between reusable CI/CD logic and application-specific code. REPO1, known as the templates repository, contains all reusable workflows for critical pipeline stages such as build, test, publish, Docker build, Docker push, and deployment. These workflows are defined under the .github/workflows directory and are designed to be called by other repositories via workflow_call. REPO2, the application repository, contains the .NET 8 source code, Dockerfile, and minimal workflow definitions that invoke the templates in REPO1. This architectural separation ensures consistency across projects, simplifies onboarding for new repositories, and allows CI/CD improvements to be rolled out centrally without rewriting pipelines for each application.</a:t>
            </a:r>
          </a:p>
        </p:txBody>
      </p:sp>
      <p:sp>
        <p:nvSpPr>
          <p:cNvPr id="4" name="Slide Number Placeholder 3"/>
          <p:cNvSpPr>
            <a:spLocks noGrp="1"/>
          </p:cNvSpPr>
          <p:nvPr>
            <p:ph type="sldNum" sz="quarter" idx="5"/>
          </p:nvPr>
        </p:nvSpPr>
        <p:spPr/>
        <p:txBody>
          <a:bodyPr/>
          <a:lstStyle/>
          <a:p>
            <a:fld id="{A4EFBE43-D114-44C1-8ACD-153443E2224C}" type="slidenum">
              <a:t>4</a:t>
            </a:fld>
            <a:endParaRPr lang="en-US"/>
          </a:p>
        </p:txBody>
      </p:sp>
    </p:spTree>
    <p:extLst>
      <p:ext uri="{BB962C8B-B14F-4D97-AF65-F5344CB8AC3E}">
        <p14:creationId xmlns:p14="http://schemas.microsoft.com/office/powerpoint/2010/main" val="3310294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Reusable workflows provide significant advantages in enterprise CI/CD environments. By centralizing pipeline logic, teams avoid YAML duplication across multiple repositories, reducing errors and maintenance overhead. Updates to build logic, security practices, or tooling versions can be made once in the templates repository and consumed by all application repositories when they update their workflow reference tag. Additionally, reusable workflows enforce clear contracts by explicitly defining inputs and secrets, ensuring caller repositories only pass required parameters without embedding sensitive information. This approach promotes governance, standardization, and scalability while supporting continuous improvement in CI/CD processes.</a:t>
            </a:r>
          </a:p>
        </p:txBody>
      </p:sp>
      <p:sp>
        <p:nvSpPr>
          <p:cNvPr id="4" name="Slide Number Placeholder 3"/>
          <p:cNvSpPr>
            <a:spLocks noGrp="1"/>
          </p:cNvSpPr>
          <p:nvPr>
            <p:ph type="sldNum" sz="quarter" idx="5"/>
          </p:nvPr>
        </p:nvSpPr>
        <p:spPr/>
        <p:txBody>
          <a:bodyPr/>
          <a:lstStyle/>
          <a:p>
            <a:fld id="{A4EFBE43-D114-44C1-8ACD-153443E2224C}" type="slidenum">
              <a:t>5</a:t>
            </a:fld>
            <a:endParaRPr lang="en-US"/>
          </a:p>
        </p:txBody>
      </p:sp>
    </p:spTree>
    <p:extLst>
      <p:ext uri="{BB962C8B-B14F-4D97-AF65-F5344CB8AC3E}">
        <p14:creationId xmlns:p14="http://schemas.microsoft.com/office/powerpoint/2010/main" val="1285292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Before implementing the CI/CD pipelines, several prerequisites must be met to ensure smooth setup and execution. Developers should have Git installed locally and access to a GitHub account with permissions to create repositories. The .NET SDK 8 should be installed locally to validate builds and tests before triggering CI. Docker installation is optional for local development but recommended; however, Docker builds can also be executed entirely on GitHub-hosted runners such as ubuntu-latest. Optional components include a container registry such as Azure Container Registry, Docker Hub, GitHub Container Registry, or a private registry, as well as a deployment target like AKS, App Service, or AAP job templates. Validating dotnet restore, build, test, and publish locally before pushing changes helps reduce CI failures.</a:t>
            </a:r>
          </a:p>
        </p:txBody>
      </p:sp>
      <p:sp>
        <p:nvSpPr>
          <p:cNvPr id="4" name="Slide Number Placeholder 3"/>
          <p:cNvSpPr>
            <a:spLocks noGrp="1"/>
          </p:cNvSpPr>
          <p:nvPr>
            <p:ph type="sldNum" sz="quarter" idx="5"/>
          </p:nvPr>
        </p:nvSpPr>
        <p:spPr/>
        <p:txBody>
          <a:bodyPr/>
          <a:lstStyle/>
          <a:p>
            <a:fld id="{A4EFBE43-D114-44C1-8ACD-153443E2224C}" type="slidenum">
              <a:t>6</a:t>
            </a:fld>
            <a:endParaRPr lang="en-US"/>
          </a:p>
        </p:txBody>
      </p:sp>
    </p:spTree>
    <p:extLst>
      <p:ext uri="{BB962C8B-B14F-4D97-AF65-F5344CB8AC3E}">
        <p14:creationId xmlns:p14="http://schemas.microsoft.com/office/powerpoint/2010/main" val="1448131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Once the repositories and workflows are configured, the CI/CD flow operates automatically. Pushing code to the main or master branch in REPO2 triggers the CI workflow, which sequentially calls reusable templates for build, test, publish, and Docker image creation using the needs dependency chain. Docker images are built and saved as artifacts, with optional push to a configured container registry once secrets are enabled. Secrets are stored exclusively in the application repository and passed securely to reusable workflows, ensuring template repositories remain secret-free. Optional deployment workflows can be triggered manually using workflow_dispatch, supporting multi-site deployments through matrix strategies and integration with external systems like AAP. This end-to-end flow ensures consistent, traceable, and governed automation from code commit through deployment.</a:t>
            </a:r>
          </a:p>
        </p:txBody>
      </p:sp>
      <p:sp>
        <p:nvSpPr>
          <p:cNvPr id="4" name="Slide Number Placeholder 3"/>
          <p:cNvSpPr>
            <a:spLocks noGrp="1"/>
          </p:cNvSpPr>
          <p:nvPr>
            <p:ph type="sldNum" sz="quarter" idx="5"/>
          </p:nvPr>
        </p:nvSpPr>
        <p:spPr/>
        <p:txBody>
          <a:bodyPr/>
          <a:lstStyle/>
          <a:p>
            <a:fld id="{A4EFBE43-D114-44C1-8ACD-153443E2224C}" type="slidenum">
              <a:t>7</a:t>
            </a:fld>
            <a:endParaRPr lang="en-US"/>
          </a:p>
        </p:txBody>
      </p:sp>
    </p:spTree>
    <p:extLst>
      <p:ext uri="{BB962C8B-B14F-4D97-AF65-F5344CB8AC3E}">
        <p14:creationId xmlns:p14="http://schemas.microsoft.com/office/powerpoint/2010/main" val="22615264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731445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1935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903160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940232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639226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439337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741320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4/24/2026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58453902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4/24/2026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14704420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4/24/2026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194580915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278210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186086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4/24/2026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500986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4/24/2026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631257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4/24/2026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121745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4/24/2026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1785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4/24/2026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63101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4/24/2026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4212678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4743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28540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63314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8952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70123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35231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42118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37168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4041242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5927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7821342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1506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07663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757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248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1730828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47127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8351631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9429359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7596066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8190105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89364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6740452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8889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03949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4/24/2026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13020910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4/24/2026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a:t>##%</a:t>
            </a:r>
          </a:p>
        </p:txBody>
      </p:sp>
    </p:spTree>
    <p:extLst>
      <p:ext uri="{BB962C8B-B14F-4D97-AF65-F5344CB8AC3E}">
        <p14:creationId xmlns:p14="http://schemas.microsoft.com/office/powerpoint/2010/main" val="10691333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4/24/2026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a:t>##%</a:t>
            </a:r>
          </a:p>
        </p:txBody>
      </p:sp>
    </p:spTree>
    <p:extLst>
      <p:ext uri="{BB962C8B-B14F-4D97-AF65-F5344CB8AC3E}">
        <p14:creationId xmlns:p14="http://schemas.microsoft.com/office/powerpoint/2010/main" val="22114398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4/24/2026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77007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4/24/2026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11279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4/24/2026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86544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4/24/2026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44148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4/24/2026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4068332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4/24/2026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1726379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4/24/2026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29820903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4/24/2026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77381883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4/24/2026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2639412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4/24/2026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32921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4/24/2026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891018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4/24/2026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486319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4/24/2026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5258028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4/24/2026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15911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4/24/2026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23417009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53709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171465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4/24/2026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24776069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372AB-FBBF-A239-EB05-1402E32EC942}"/>
              </a:ext>
            </a:extLst>
          </p:cNvPr>
          <p:cNvSpPr>
            <a:spLocks noGrp="1"/>
          </p:cNvSpPr>
          <p:nvPr>
            <p:ph type="ctrTitle"/>
          </p:nvPr>
        </p:nvSpPr>
        <p:spPr>
          <a:xfrm>
            <a:off x="2847083" y="2569064"/>
            <a:ext cx="6925432" cy="1351342"/>
          </a:xfrm>
        </p:spPr>
        <p:txBody>
          <a:bodyPr anchor="t">
            <a:normAutofit/>
          </a:bodyPr>
          <a:lstStyle/>
          <a:p>
            <a:r>
              <a:rPr lang="en-US" dirty="0"/>
              <a:t>.NET 8 CI and Docker with Reusable GitHub Actions</a:t>
            </a:r>
          </a:p>
        </p:txBody>
      </p:sp>
      <p:sp>
        <p:nvSpPr>
          <p:cNvPr id="3" name="Subtitle 2">
            <a:extLst>
              <a:ext uri="{FF2B5EF4-FFF2-40B4-BE49-F238E27FC236}">
                <a16:creationId xmlns:a16="http://schemas.microsoft.com/office/drawing/2014/main" id="{E25F673A-2D37-F06D-EDED-3FBDB5A5FFAF}"/>
              </a:ext>
            </a:extLst>
          </p:cNvPr>
          <p:cNvSpPr>
            <a:spLocks noGrp="1"/>
          </p:cNvSpPr>
          <p:nvPr>
            <p:ph type="subTitle" idx="1"/>
          </p:nvPr>
        </p:nvSpPr>
        <p:spPr>
          <a:xfrm>
            <a:off x="9235224" y="4822406"/>
            <a:ext cx="2724238" cy="1351342"/>
          </a:xfrm>
        </p:spPr>
        <p:txBody>
          <a:bodyPr anchor="t">
            <a:normAutofit/>
          </a:bodyPr>
          <a:lstStyle/>
          <a:p>
            <a:r>
              <a:rPr lang="en-US" dirty="0"/>
              <a:t>Streamlining development with automated workflows and tools</a:t>
            </a:r>
          </a:p>
        </p:txBody>
      </p:sp>
      <p:sp>
        <p:nvSpPr>
          <p:cNvPr id="4" name="Footer Placeholder 3">
            <a:extLst>
              <a:ext uri="{FF2B5EF4-FFF2-40B4-BE49-F238E27FC236}">
                <a16:creationId xmlns:a16="http://schemas.microsoft.com/office/drawing/2014/main" id="{AB06B35C-AB59-3501-D91E-93F3518627B2}"/>
              </a:ext>
            </a:extLst>
          </p:cNvPr>
          <p:cNvSpPr>
            <a:spLocks noGrp="1"/>
          </p:cNvSpPr>
          <p:nvPr>
            <p:ph type="ftr" sz="quarter" idx="11"/>
          </p:nvPr>
        </p:nvSpPr>
        <p:spPr>
          <a:xfrm>
            <a:off x="1776903" y="6447496"/>
            <a:ext cx="2140360"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94A1519-D927-0ECB-2BF2-D93708056B94}"/>
              </a:ext>
            </a:extLst>
          </p:cNvPr>
          <p:cNvSpPr>
            <a:spLocks noGrp="1"/>
          </p:cNvSpPr>
          <p:nvPr>
            <p:ph type="dt" sz="half" idx="10"/>
          </p:nvPr>
        </p:nvSpPr>
        <p:spPr>
          <a:xfrm>
            <a:off x="9235224" y="6451888"/>
            <a:ext cx="1581238" cy="338328"/>
          </a:xfrm>
        </p:spPr>
        <p:txBody>
          <a:bodyPr anchor="ctr">
            <a:normAutofit/>
          </a:bodyPr>
          <a:lstStyle/>
          <a:p>
            <a:pPr>
              <a:spcAft>
                <a:spcPts val="600"/>
              </a:spcAft>
            </a:pPr>
            <a:fld id="{21359139-99F8-4B6E-8834-95F2B9D91EE4}" type="datetime1">
              <a:rPr lang="en-US" smtClean="0"/>
              <a:pPr>
                <a:spcAft>
                  <a:spcPts val="600"/>
                </a:spcAft>
              </a:pPr>
              <a:t>4/24/2026</a:t>
            </a:fld>
            <a:endParaRPr lang="en-US"/>
          </a:p>
        </p:txBody>
      </p:sp>
      <p:sp>
        <p:nvSpPr>
          <p:cNvPr id="6" name="Slide Number Placeholder 5">
            <a:extLst>
              <a:ext uri="{FF2B5EF4-FFF2-40B4-BE49-F238E27FC236}">
                <a16:creationId xmlns:a16="http://schemas.microsoft.com/office/drawing/2014/main" id="{94B1C476-7421-0973-345F-7896C1584F1F}"/>
              </a:ext>
            </a:extLst>
          </p:cNvPr>
          <p:cNvSpPr>
            <a:spLocks noGrp="1"/>
          </p:cNvSpPr>
          <p:nvPr>
            <p:ph type="sldNum" sz="quarter" idx="12"/>
          </p:nvPr>
        </p:nvSpPr>
        <p:spPr>
          <a:xfrm>
            <a:off x="11480357" y="6451888"/>
            <a:ext cx="457200" cy="338328"/>
          </a:xfrm>
        </p:spPr>
        <p:txBody>
          <a:bodyPr anchor="ctr">
            <a:normAutofit/>
          </a:bodyPr>
          <a:lstStyle/>
          <a:p>
            <a:pPr>
              <a:spcAft>
                <a:spcPts val="600"/>
              </a:spcAft>
            </a:pPr>
            <a:fld id="{8E274F5D-21DC-40EF-8DBA-AB9BB119E939}" type="slidenum">
              <a:rPr lang="en-US" smtClean="0"/>
              <a:pPr>
                <a:spcAft>
                  <a:spcPts val="600"/>
                </a:spcAft>
              </a:pPr>
              <a:t>1</a:t>
            </a:fld>
            <a:endParaRPr lang="en-US"/>
          </a:p>
        </p:txBody>
      </p:sp>
    </p:spTree>
    <p:extLst>
      <p:ext uri="{BB962C8B-B14F-4D97-AF65-F5344CB8AC3E}">
        <p14:creationId xmlns:p14="http://schemas.microsoft.com/office/powerpoint/2010/main" val="80866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930F-EFED-0FE3-5D31-07C88EADB9F0}"/>
              </a:ext>
            </a:extLst>
          </p:cNvPr>
          <p:cNvSpPr>
            <a:spLocks noGrp="1"/>
          </p:cNvSpPr>
          <p:nvPr>
            <p:ph type="title"/>
          </p:nvPr>
        </p:nvSpPr>
        <p:spPr>
          <a:xfrm>
            <a:off x="5881339" y="1115568"/>
            <a:ext cx="5247577" cy="994131"/>
          </a:xfrm>
        </p:spPr>
        <p:txBody>
          <a:bodyPr anchor="t">
            <a:normAutofit/>
          </a:bodyPr>
          <a:lstStyle/>
          <a:p>
            <a:r>
              <a:rPr lang="en-US"/>
              <a:t>Overview of the CI/CD POC</a:t>
            </a:r>
          </a:p>
        </p:txBody>
      </p:sp>
      <p:sp>
        <p:nvSpPr>
          <p:cNvPr id="3" name="Footer Placeholder 2">
            <a:extLst>
              <a:ext uri="{FF2B5EF4-FFF2-40B4-BE49-F238E27FC236}">
                <a16:creationId xmlns:a16="http://schemas.microsoft.com/office/drawing/2014/main" id="{FBAAFA12-83BC-B5CA-56A2-464E17CD867E}"/>
              </a:ext>
            </a:extLst>
          </p:cNvPr>
          <p:cNvSpPr>
            <a:spLocks noGrp="1"/>
          </p:cNvSpPr>
          <p:nvPr>
            <p:ph type="ftr" sz="quarter" idx="11"/>
          </p:nvPr>
        </p:nvSpPr>
        <p:spPr>
          <a:xfrm>
            <a:off x="429768" y="219456"/>
            <a:ext cx="2933700"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FB8A1513-8FEF-79AA-74A5-8ABBF7AC18A6}"/>
              </a:ext>
            </a:extLst>
          </p:cNvPr>
          <p:cNvSpPr>
            <a:spLocks noGrp="1"/>
          </p:cNvSpPr>
          <p:nvPr>
            <p:ph type="dt" sz="half" idx="10"/>
          </p:nvPr>
        </p:nvSpPr>
        <p:spPr>
          <a:xfrm>
            <a:off x="5896579" y="209088"/>
            <a:ext cx="1844044" cy="338328"/>
          </a:xfrm>
        </p:spPr>
        <p:txBody>
          <a:bodyPr anchor="ctr">
            <a:normAutofit/>
          </a:bodyPr>
          <a:lstStyle/>
          <a:p>
            <a:pPr>
              <a:spcAft>
                <a:spcPts val="600"/>
              </a:spcAft>
            </a:pPr>
            <a:fld id="{F38C42AE-61C6-458B-86C3-22D39A5E8956}" type="datetime1">
              <a:rPr lang="en-US" smtClean="0"/>
              <a:pPr>
                <a:spcAft>
                  <a:spcPts val="600"/>
                </a:spcAft>
              </a:pPr>
              <a:t>4/24/2026</a:t>
            </a:fld>
            <a:endParaRPr lang="en-US"/>
          </a:p>
        </p:txBody>
      </p:sp>
      <p:sp>
        <p:nvSpPr>
          <p:cNvPr id="5" name="Slide Number Placeholder 4">
            <a:extLst>
              <a:ext uri="{FF2B5EF4-FFF2-40B4-BE49-F238E27FC236}">
                <a16:creationId xmlns:a16="http://schemas.microsoft.com/office/drawing/2014/main" id="{E20C7CC9-591B-41B2-9482-603CAB2F720E}"/>
              </a:ext>
            </a:extLst>
          </p:cNvPr>
          <p:cNvSpPr>
            <a:spLocks noGrp="1"/>
          </p:cNvSpPr>
          <p:nvPr>
            <p:ph type="sldNum" sz="quarter" idx="12"/>
          </p:nvPr>
        </p:nvSpPr>
        <p:spPr>
          <a:xfrm>
            <a:off x="11334185" y="209088"/>
            <a:ext cx="555948" cy="338328"/>
          </a:xfrm>
        </p:spPr>
        <p:txBody>
          <a:bodyPr anchor="ctr">
            <a:normAutofit/>
          </a:bodyPr>
          <a:lstStyle/>
          <a:p>
            <a:pPr>
              <a:spcAft>
                <a:spcPts val="600"/>
              </a:spcAft>
            </a:pPr>
            <a:fld id="{8E274F5D-21DC-40EF-8DBA-AB9BB119E939}" type="slidenum">
              <a:rPr lang="en-US" smtClean="0"/>
              <a:pPr>
                <a:spcAft>
                  <a:spcPts val="600"/>
                </a:spcAft>
              </a:pPr>
              <a:t>2</a:t>
            </a:fld>
            <a:endParaRPr lang="en-US"/>
          </a:p>
        </p:txBody>
      </p:sp>
      <p:pic>
        <p:nvPicPr>
          <p:cNvPr id="8" name="Content Placeholder 7" descr="technology and innovation concept">
            <a:extLst>
              <a:ext uri="{FF2B5EF4-FFF2-40B4-BE49-F238E27FC236}">
                <a16:creationId xmlns:a16="http://schemas.microsoft.com/office/drawing/2014/main" id="{8EF7E36A-BEFB-4EAF-9ABF-00F2AA63B893}"/>
              </a:ext>
            </a:extLst>
          </p:cNvPr>
          <p:cNvPicPr>
            <a:picLocks noGrp="1" noChangeAspect="1"/>
          </p:cNvPicPr>
          <p:nvPr>
            <p:ph type="pic" sz="quarter" idx="15"/>
          </p:nvPr>
        </p:nvPicPr>
        <p:blipFill>
          <a:blip r:embed="rId3"/>
          <a:srcRect l="15195" r="15477"/>
          <a:stretch>
            <a:fillRect/>
          </a:stretch>
        </p:blipFill>
        <p:spPr>
          <a:xfrm>
            <a:off x="20" y="1181100"/>
            <a:ext cx="5247557" cy="5676900"/>
          </a:xfrm>
        </p:spPr>
      </p:pic>
      <p:sp>
        <p:nvSpPr>
          <p:cNvPr id="7" name="Content Placeholder 6">
            <a:extLst>
              <a:ext uri="{FF2B5EF4-FFF2-40B4-BE49-F238E27FC236}">
                <a16:creationId xmlns:a16="http://schemas.microsoft.com/office/drawing/2014/main" id="{C4B7B944-50B1-B2CB-DA3D-D0028E64FAE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81339" y="2133600"/>
            <a:ext cx="5247577" cy="4114800"/>
          </a:xfrm>
        </p:spPr>
        <p:txBody>
          <a:bodyPr>
            <a:normAutofit/>
          </a:bodyPr>
          <a:lstStyle/>
          <a:p>
            <a:pPr marL="0" indent="0">
              <a:spcBef>
                <a:spcPts val="2500"/>
              </a:spcBef>
              <a:buFont typeface="Arial" panose="020B0604020202020204" pitchFamily="34" charset="0"/>
              <a:buNone/>
            </a:pPr>
            <a:r>
              <a:rPr lang="en-US" b="1"/>
              <a:t>Reusable CI/CD Architecture</a:t>
            </a:r>
          </a:p>
          <a:p>
            <a:pPr marL="0" lvl="1" indent="0">
              <a:buFont typeface="Arial" panose="020B0604020202020204" pitchFamily="34" charset="0"/>
              <a:buNone/>
            </a:pPr>
            <a:r>
              <a:rPr lang="en-US"/>
              <a:t>CI/CD logic is centralized in reusable workflows separate from application code, promoting scalability and standardization.</a:t>
            </a:r>
          </a:p>
          <a:p>
            <a:pPr marL="0" indent="0">
              <a:spcBef>
                <a:spcPts val="2500"/>
              </a:spcBef>
              <a:buFont typeface="Arial" panose="020B0604020202020204" pitchFamily="34" charset="0"/>
              <a:buNone/>
            </a:pPr>
            <a:r>
              <a:rPr lang="en-US" b="1"/>
              <a:t>Separation of Repositories</a:t>
            </a:r>
          </a:p>
          <a:p>
            <a:pPr marL="0" lvl="1" indent="0">
              <a:buFont typeface="Arial" panose="020B0604020202020204" pitchFamily="34" charset="0"/>
              <a:buNone/>
            </a:pPr>
            <a:r>
              <a:rPr lang="en-US"/>
              <a:t>Templates repository holds pipeline logic while application repository remains lightweight with source code and workflow callers.</a:t>
            </a:r>
          </a:p>
          <a:p>
            <a:pPr marL="0" indent="0">
              <a:spcBef>
                <a:spcPts val="2500"/>
              </a:spcBef>
              <a:buFont typeface="Arial" panose="020B0604020202020204" pitchFamily="34" charset="0"/>
              <a:buNone/>
            </a:pPr>
            <a:r>
              <a:rPr lang="en-US" b="1"/>
              <a:t>Pipeline Stages Demonstrated</a:t>
            </a:r>
          </a:p>
          <a:p>
            <a:pPr marL="0" lvl="1" indent="0">
              <a:buFont typeface="Arial" panose="020B0604020202020204" pitchFamily="34" charset="0"/>
              <a:buNone/>
            </a:pPr>
            <a:r>
              <a:rPr lang="en-US"/>
              <a:t>The POC showcases build, test, publish, Docker image build and push, and optional deployment in a governed pipeline.</a:t>
            </a:r>
          </a:p>
        </p:txBody>
      </p:sp>
    </p:spTree>
    <p:extLst>
      <p:ext uri="{BB962C8B-B14F-4D97-AF65-F5344CB8AC3E}">
        <p14:creationId xmlns:p14="http://schemas.microsoft.com/office/powerpoint/2010/main" val="3372613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E2CE3-3B7E-B6C3-C8D4-35F1AFF2E547}"/>
              </a:ext>
            </a:extLst>
          </p:cNvPr>
          <p:cNvSpPr>
            <a:spLocks noGrp="1"/>
          </p:cNvSpPr>
          <p:nvPr>
            <p:ph type="title"/>
          </p:nvPr>
        </p:nvSpPr>
        <p:spPr>
          <a:xfrm>
            <a:off x="419100" y="4607626"/>
            <a:ext cx="4419600" cy="1640774"/>
          </a:xfrm>
        </p:spPr>
        <p:txBody>
          <a:bodyPr anchor="t">
            <a:normAutofit/>
          </a:bodyPr>
          <a:lstStyle/>
          <a:p>
            <a:r>
              <a:rPr lang="en-US"/>
              <a:t>Primary Objectives</a:t>
            </a:r>
          </a:p>
        </p:txBody>
      </p:sp>
      <p:pic>
        <p:nvPicPr>
          <p:cNvPr id="8" name="Content Placeholder 7" descr="Desktop computers connected in a network.See all my">
            <a:extLst>
              <a:ext uri="{FF2B5EF4-FFF2-40B4-BE49-F238E27FC236}">
                <a16:creationId xmlns:a16="http://schemas.microsoft.com/office/drawing/2014/main" id="{58DC8038-520F-4764-AEB4-673081E28E48}"/>
              </a:ext>
            </a:extLst>
          </p:cNvPr>
          <p:cNvPicPr>
            <a:picLocks noGrp="1" noChangeAspect="1"/>
          </p:cNvPicPr>
          <p:nvPr>
            <p:ph type="pic" sz="quarter" idx="15"/>
          </p:nvPr>
        </p:nvPicPr>
        <p:blipFill>
          <a:blip r:embed="rId3"/>
          <a:srcRect l="7610" r="6308" b="-2"/>
          <a:stretch>
            <a:fillRect/>
          </a:stretch>
        </p:blipFill>
        <p:spPr>
          <a:xfrm>
            <a:off x="1914" y="10"/>
            <a:ext cx="4836786" cy="4214181"/>
          </a:xfrm>
        </p:spPr>
      </p:pic>
      <p:sp>
        <p:nvSpPr>
          <p:cNvPr id="3" name="Footer Placeholder 2">
            <a:extLst>
              <a:ext uri="{FF2B5EF4-FFF2-40B4-BE49-F238E27FC236}">
                <a16:creationId xmlns:a16="http://schemas.microsoft.com/office/drawing/2014/main" id="{9EF7D232-2F5F-DF01-99ED-FF85CA5660B1}"/>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064BB724-B253-210C-CC9E-503BC0DECA38}"/>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4/24/2026</a:t>
            </a:fld>
            <a:endParaRPr lang="en-US"/>
          </a:p>
        </p:txBody>
      </p:sp>
      <p:sp>
        <p:nvSpPr>
          <p:cNvPr id="5" name="Slide Number Placeholder 4">
            <a:extLst>
              <a:ext uri="{FF2B5EF4-FFF2-40B4-BE49-F238E27FC236}">
                <a16:creationId xmlns:a16="http://schemas.microsoft.com/office/drawing/2014/main" id="{3032577D-60C9-5564-67DC-1D4133078C4C}"/>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572BDD85-7EBA-95BC-CF94-14BDA55DF4C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Two-Repository Model</a:t>
            </a:r>
          </a:p>
          <a:p>
            <a:pPr marL="0" lvl="1" indent="0">
              <a:buFont typeface="Arial" panose="020B0604020202020204" pitchFamily="34" charset="0"/>
              <a:buNone/>
            </a:pPr>
            <a:r>
              <a:rPr lang="en-US"/>
              <a:t>Implement a clean two-repository structure separating reusable workflows and application code to streamline CI/CD management.</a:t>
            </a:r>
          </a:p>
          <a:p>
            <a:pPr marL="0" indent="0">
              <a:spcBef>
                <a:spcPts val="2500"/>
              </a:spcBef>
              <a:buFont typeface="Arial" panose="020B0604020202020204" pitchFamily="34" charset="0"/>
              <a:buNone/>
            </a:pPr>
            <a:r>
              <a:rPr lang="en-US" b="1"/>
              <a:t>Reusable GitHub Workflows</a:t>
            </a:r>
          </a:p>
          <a:p>
            <a:pPr marL="0" lvl="1" indent="0">
              <a:buFont typeface="Arial" panose="020B0604020202020204" pitchFamily="34" charset="0"/>
              <a:buNone/>
            </a:pPr>
            <a:r>
              <a:rPr lang="en-US"/>
              <a:t>Use reusable GitHub Actions workflows to standardize and simplify automation across projects and teams.</a:t>
            </a:r>
          </a:p>
          <a:p>
            <a:pPr marL="0" indent="0">
              <a:spcBef>
                <a:spcPts val="2500"/>
              </a:spcBef>
              <a:buFont typeface="Arial" panose="020B0604020202020204" pitchFamily="34" charset="0"/>
              <a:buNone/>
            </a:pPr>
            <a:r>
              <a:rPr lang="en-US" b="1"/>
              <a:t>Automated CI/CD Pipelines</a:t>
            </a:r>
          </a:p>
          <a:p>
            <a:pPr marL="0" lvl="1" indent="0">
              <a:buFont typeface="Arial" panose="020B0604020202020204" pitchFamily="34" charset="0"/>
              <a:buNone/>
            </a:pPr>
            <a:r>
              <a:rPr lang="en-US"/>
              <a:t>Enable automatic build, test, publish, and Docker image creation triggered by code pushes or pull requests.</a:t>
            </a:r>
          </a:p>
          <a:p>
            <a:pPr marL="0" indent="0">
              <a:spcBef>
                <a:spcPts val="2500"/>
              </a:spcBef>
              <a:buFont typeface="Arial" panose="020B0604020202020204" pitchFamily="34" charset="0"/>
              <a:buNone/>
            </a:pPr>
            <a:r>
              <a:rPr lang="en-US" b="1"/>
              <a:t>Scalable Deployment Automation</a:t>
            </a:r>
          </a:p>
          <a:p>
            <a:pPr marL="0" lvl="1" indent="0">
              <a:buFont typeface="Arial" panose="020B0604020202020204" pitchFamily="34" charset="0"/>
              <a:buNone/>
            </a:pPr>
            <a:r>
              <a:rPr lang="en-US"/>
              <a:t>Support optional deployment workflows to extend automation to infrastructure and runtime environments for scalability.</a:t>
            </a:r>
          </a:p>
        </p:txBody>
      </p:sp>
    </p:spTree>
    <p:extLst>
      <p:ext uri="{BB962C8B-B14F-4D97-AF65-F5344CB8AC3E}">
        <p14:creationId xmlns:p14="http://schemas.microsoft.com/office/powerpoint/2010/main" val="2588577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768B3-DCB9-1999-3FEC-DE6D40D42CF9}"/>
              </a:ext>
            </a:extLst>
          </p:cNvPr>
          <p:cNvSpPr>
            <a:spLocks noGrp="1"/>
          </p:cNvSpPr>
          <p:nvPr>
            <p:ph type="title"/>
          </p:nvPr>
        </p:nvSpPr>
        <p:spPr>
          <a:xfrm>
            <a:off x="419100" y="4607626"/>
            <a:ext cx="4419600" cy="1640774"/>
          </a:xfrm>
        </p:spPr>
        <p:txBody>
          <a:bodyPr anchor="t">
            <a:normAutofit/>
          </a:bodyPr>
          <a:lstStyle/>
          <a:p>
            <a:r>
              <a:rPr lang="en-US"/>
              <a:t>Two-Repository Architecture</a:t>
            </a:r>
          </a:p>
        </p:txBody>
      </p:sp>
      <p:pic>
        <p:nvPicPr>
          <p:cNvPr id="8" name="Content Placeholder 7" descr="Secure data key. Isolated on white with clipping path.">
            <a:extLst>
              <a:ext uri="{FF2B5EF4-FFF2-40B4-BE49-F238E27FC236}">
                <a16:creationId xmlns:a16="http://schemas.microsoft.com/office/drawing/2014/main" id="{CCC719B3-5DD4-4C7D-8D9B-4E1A41996F43}"/>
              </a:ext>
            </a:extLst>
          </p:cNvPr>
          <p:cNvPicPr>
            <a:picLocks noGrp="1" noChangeAspect="1"/>
          </p:cNvPicPr>
          <p:nvPr>
            <p:ph type="pic" sz="quarter" idx="15"/>
          </p:nvPr>
        </p:nvPicPr>
        <p:blipFill>
          <a:blip r:embed="rId3"/>
          <a:srcRect t="4462" r="-1" b="11677"/>
          <a:stretch>
            <a:fillRect/>
          </a:stretch>
        </p:blipFill>
        <p:spPr>
          <a:xfrm>
            <a:off x="1914" y="10"/>
            <a:ext cx="4836786" cy="4214181"/>
          </a:xfrm>
        </p:spPr>
      </p:pic>
      <p:sp>
        <p:nvSpPr>
          <p:cNvPr id="3" name="Footer Placeholder 2">
            <a:extLst>
              <a:ext uri="{FF2B5EF4-FFF2-40B4-BE49-F238E27FC236}">
                <a16:creationId xmlns:a16="http://schemas.microsoft.com/office/drawing/2014/main" id="{BD39BDCE-590F-F74D-1C11-8BFCE1F55F4A}"/>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8F9A1409-2543-D56E-7165-C56B35AB789B}"/>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4/24/2026</a:t>
            </a:fld>
            <a:endParaRPr lang="en-US"/>
          </a:p>
        </p:txBody>
      </p:sp>
      <p:sp>
        <p:nvSpPr>
          <p:cNvPr id="5" name="Slide Number Placeholder 4">
            <a:extLst>
              <a:ext uri="{FF2B5EF4-FFF2-40B4-BE49-F238E27FC236}">
                <a16:creationId xmlns:a16="http://schemas.microsoft.com/office/drawing/2014/main" id="{FA403AA3-436E-42A8-B483-DD0AE47FF185}"/>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4</a:t>
            </a:fld>
            <a:endParaRPr lang="en-US"/>
          </a:p>
        </p:txBody>
      </p:sp>
      <p:sp>
        <p:nvSpPr>
          <p:cNvPr id="7" name="Content Placeholder 6">
            <a:extLst>
              <a:ext uri="{FF2B5EF4-FFF2-40B4-BE49-F238E27FC236}">
                <a16:creationId xmlns:a16="http://schemas.microsoft.com/office/drawing/2014/main" id="{39CA3787-D888-1FCE-9F2A-1A63A18FDC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Separation of Concerns</a:t>
            </a:r>
          </a:p>
          <a:p>
            <a:pPr marL="0" lvl="1" indent="0">
              <a:buFont typeface="Arial" panose="020B0604020202020204" pitchFamily="34" charset="0"/>
              <a:buNone/>
            </a:pPr>
            <a:r>
              <a:rPr lang="en-US"/>
              <a:t>Two repositories separate reusable CI/CD logic from application-specific code for clearer architecture and maintenance.</a:t>
            </a:r>
          </a:p>
          <a:p>
            <a:pPr marL="0" indent="0">
              <a:spcBef>
                <a:spcPts val="2500"/>
              </a:spcBef>
              <a:buFont typeface="Arial" panose="020B0604020202020204" pitchFamily="34" charset="0"/>
              <a:buNone/>
            </a:pPr>
            <a:r>
              <a:rPr lang="en-US" b="1"/>
              <a:t>Templates Repository (REPO1)</a:t>
            </a:r>
          </a:p>
          <a:p>
            <a:pPr marL="0" lvl="1" indent="0">
              <a:buFont typeface="Arial" panose="020B0604020202020204" pitchFamily="34" charset="0"/>
              <a:buNone/>
            </a:pPr>
            <a:r>
              <a:rPr lang="en-US"/>
              <a:t>REPO1 holds reusable workflows for build, test, publish, Docker operations, and deployment to be shared across projects.</a:t>
            </a:r>
          </a:p>
          <a:p>
            <a:pPr marL="0" indent="0">
              <a:spcBef>
                <a:spcPts val="2500"/>
              </a:spcBef>
              <a:buFont typeface="Arial" panose="020B0604020202020204" pitchFamily="34" charset="0"/>
              <a:buNone/>
            </a:pPr>
            <a:r>
              <a:rPr lang="en-US" b="1"/>
              <a:t>Application Repository (REPO2)</a:t>
            </a:r>
          </a:p>
          <a:p>
            <a:pPr marL="0" lvl="1" indent="0">
              <a:buFont typeface="Arial" panose="020B0604020202020204" pitchFamily="34" charset="0"/>
              <a:buNone/>
            </a:pPr>
            <a:r>
              <a:rPr lang="en-US"/>
              <a:t>REPO2 contains the .NET 8 source code, Dockerfile, and minimal workflows that call templates from REPO1.</a:t>
            </a:r>
          </a:p>
          <a:p>
            <a:pPr marL="0" indent="0">
              <a:spcBef>
                <a:spcPts val="2500"/>
              </a:spcBef>
              <a:buFont typeface="Arial" panose="020B0604020202020204" pitchFamily="34" charset="0"/>
              <a:buNone/>
            </a:pPr>
            <a:r>
              <a:rPr lang="en-US" b="1"/>
              <a:t>Benefits of Architecture</a:t>
            </a:r>
          </a:p>
          <a:p>
            <a:pPr marL="0" lvl="1" indent="0">
              <a:buFont typeface="Arial" panose="020B0604020202020204" pitchFamily="34" charset="0"/>
              <a:buNone/>
            </a:pPr>
            <a:r>
              <a:rPr lang="en-US"/>
              <a:t>This architecture ensures project consistency, simplifies onboarding, and enables centralized CI/CD improvements.</a:t>
            </a:r>
          </a:p>
        </p:txBody>
      </p:sp>
    </p:spTree>
    <p:extLst>
      <p:ext uri="{BB962C8B-B14F-4D97-AF65-F5344CB8AC3E}">
        <p14:creationId xmlns:p14="http://schemas.microsoft.com/office/powerpoint/2010/main" val="2167397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6A4C-22F0-3D82-B73B-0DB885E12068}"/>
              </a:ext>
            </a:extLst>
          </p:cNvPr>
          <p:cNvSpPr>
            <a:spLocks noGrp="1"/>
          </p:cNvSpPr>
          <p:nvPr>
            <p:ph type="title"/>
          </p:nvPr>
        </p:nvSpPr>
        <p:spPr>
          <a:xfrm>
            <a:off x="419100" y="4607626"/>
            <a:ext cx="4419600" cy="1640774"/>
          </a:xfrm>
        </p:spPr>
        <p:txBody>
          <a:bodyPr anchor="t">
            <a:normAutofit/>
          </a:bodyPr>
          <a:lstStyle/>
          <a:p>
            <a:r>
              <a:rPr lang="en-US"/>
              <a:t>Why Reusable Workflows</a:t>
            </a:r>
          </a:p>
        </p:txBody>
      </p:sp>
      <p:pic>
        <p:nvPicPr>
          <p:cNvPr id="8" name="Content Placeholder 7"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20104DC3-5EAC-4262-881C-8B32B33FA3C1}"/>
              </a:ext>
            </a:extLst>
          </p:cNvPr>
          <p:cNvPicPr>
            <a:picLocks noGrp="1" noChangeAspect="1"/>
          </p:cNvPicPr>
          <p:nvPr>
            <p:ph type="pic" sz="quarter" idx="15"/>
          </p:nvPr>
        </p:nvPicPr>
        <p:blipFill>
          <a:blip r:embed="rId3"/>
          <a:srcRect l="4806" r="18580" b="-3"/>
          <a:stretch>
            <a:fillRect/>
          </a:stretch>
        </p:blipFill>
        <p:spPr>
          <a:xfrm>
            <a:off x="1914" y="10"/>
            <a:ext cx="4836786" cy="4214181"/>
          </a:xfrm>
        </p:spPr>
      </p:pic>
      <p:sp>
        <p:nvSpPr>
          <p:cNvPr id="3" name="Footer Placeholder 2">
            <a:extLst>
              <a:ext uri="{FF2B5EF4-FFF2-40B4-BE49-F238E27FC236}">
                <a16:creationId xmlns:a16="http://schemas.microsoft.com/office/drawing/2014/main" id="{E7663048-7F0A-20EC-6AD4-2019AC161561}"/>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19A7FA06-E93D-6BCA-DA48-81133E2FFB8D}"/>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4/24/2026</a:t>
            </a:fld>
            <a:endParaRPr lang="en-US"/>
          </a:p>
        </p:txBody>
      </p:sp>
      <p:sp>
        <p:nvSpPr>
          <p:cNvPr id="5" name="Slide Number Placeholder 4">
            <a:extLst>
              <a:ext uri="{FF2B5EF4-FFF2-40B4-BE49-F238E27FC236}">
                <a16:creationId xmlns:a16="http://schemas.microsoft.com/office/drawing/2014/main" id="{647A3E81-411C-78F4-825C-78BE2F211CB8}"/>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473A88F9-93CF-C479-7A44-A09CA67CDDE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Centralized Pipeline Logic</a:t>
            </a:r>
          </a:p>
          <a:p>
            <a:pPr marL="0" lvl="1" indent="0">
              <a:buFont typeface="Arial" panose="020B0604020202020204" pitchFamily="34" charset="0"/>
              <a:buNone/>
            </a:pPr>
            <a:r>
              <a:rPr lang="en-US"/>
              <a:t>Centralizing pipeline logic prevents duplication and reduces errors across multiple repositories in CI/CD environments.</a:t>
            </a:r>
          </a:p>
          <a:p>
            <a:pPr marL="0" indent="0">
              <a:spcBef>
                <a:spcPts val="2500"/>
              </a:spcBef>
              <a:buFont typeface="Arial" panose="020B0604020202020204" pitchFamily="34" charset="0"/>
              <a:buNone/>
            </a:pPr>
            <a:r>
              <a:rPr lang="en-US" b="1"/>
              <a:t>Single Source of Updates</a:t>
            </a:r>
          </a:p>
          <a:p>
            <a:pPr marL="0" lvl="1" indent="0">
              <a:buFont typeface="Arial" panose="020B0604020202020204" pitchFamily="34" charset="0"/>
              <a:buNone/>
            </a:pPr>
            <a:r>
              <a:rPr lang="en-US"/>
              <a:t>Updates to build logic or security are made once in templates and used across all projects seamlessly.</a:t>
            </a:r>
          </a:p>
          <a:p>
            <a:pPr marL="0" indent="0">
              <a:spcBef>
                <a:spcPts val="2500"/>
              </a:spcBef>
              <a:buFont typeface="Arial" panose="020B0604020202020204" pitchFamily="34" charset="0"/>
              <a:buNone/>
            </a:pPr>
            <a:r>
              <a:rPr lang="en-US" b="1"/>
              <a:t>Clear Contracts and Security</a:t>
            </a:r>
          </a:p>
          <a:p>
            <a:pPr marL="0" lvl="1" indent="0">
              <a:buFont typeface="Arial" panose="020B0604020202020204" pitchFamily="34" charset="0"/>
              <a:buNone/>
            </a:pPr>
            <a:r>
              <a:rPr lang="en-US"/>
              <a:t>Reusable workflows define explicit inputs and secrets, ensuring secure parameter passing without embedding sensitive data.</a:t>
            </a:r>
          </a:p>
          <a:p>
            <a:pPr marL="0" indent="0">
              <a:spcBef>
                <a:spcPts val="2500"/>
              </a:spcBef>
              <a:buFont typeface="Arial" panose="020B0604020202020204" pitchFamily="34" charset="0"/>
              <a:buNone/>
            </a:pPr>
            <a:r>
              <a:rPr lang="en-US" b="1"/>
              <a:t>Governance and Scalability</a:t>
            </a:r>
          </a:p>
          <a:p>
            <a:pPr marL="0" lvl="1" indent="0">
              <a:buFont typeface="Arial" panose="020B0604020202020204" pitchFamily="34" charset="0"/>
              <a:buNone/>
            </a:pPr>
            <a:r>
              <a:rPr lang="en-US"/>
              <a:t>This approach promotes governance, standardization, and scalable continuous improvement in CI/CD processes.</a:t>
            </a:r>
          </a:p>
        </p:txBody>
      </p:sp>
    </p:spTree>
    <p:extLst>
      <p:ext uri="{BB962C8B-B14F-4D97-AF65-F5344CB8AC3E}">
        <p14:creationId xmlns:p14="http://schemas.microsoft.com/office/powerpoint/2010/main" val="2675910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55715-9191-0240-6B9F-55A38CCC9B1B}"/>
              </a:ext>
            </a:extLst>
          </p:cNvPr>
          <p:cNvSpPr>
            <a:spLocks noGrp="1"/>
          </p:cNvSpPr>
          <p:nvPr>
            <p:ph type="title"/>
          </p:nvPr>
        </p:nvSpPr>
        <p:spPr>
          <a:xfrm>
            <a:off x="419100" y="4607626"/>
            <a:ext cx="4419600" cy="1640774"/>
          </a:xfrm>
        </p:spPr>
        <p:txBody>
          <a:bodyPr anchor="t">
            <a:normAutofit/>
          </a:bodyPr>
          <a:lstStyle/>
          <a:p>
            <a:r>
              <a:rPr lang="en-US"/>
              <a:t>Prerequisites and Setup</a:t>
            </a:r>
          </a:p>
        </p:txBody>
      </p:sp>
      <p:pic>
        <p:nvPicPr>
          <p:cNvPr id="8" name="Content Placeholder 7" descr="4K Resolution">
            <a:extLst>
              <a:ext uri="{FF2B5EF4-FFF2-40B4-BE49-F238E27FC236}">
                <a16:creationId xmlns:a16="http://schemas.microsoft.com/office/drawing/2014/main" id="{BC982A4C-1967-4A9C-98E2-BDCC5B65599F}"/>
              </a:ext>
            </a:extLst>
          </p:cNvPr>
          <p:cNvPicPr>
            <a:picLocks noGrp="1" noChangeAspect="1"/>
          </p:cNvPicPr>
          <p:nvPr>
            <p:ph type="pic" sz="quarter" idx="15"/>
          </p:nvPr>
        </p:nvPicPr>
        <p:blipFill>
          <a:blip r:embed="rId3"/>
          <a:srcRect l="17557" r="17883" b="2"/>
          <a:stretch>
            <a:fillRect/>
          </a:stretch>
        </p:blipFill>
        <p:spPr>
          <a:xfrm>
            <a:off x="1914" y="10"/>
            <a:ext cx="4836786" cy="4214181"/>
          </a:xfrm>
        </p:spPr>
      </p:pic>
      <p:sp>
        <p:nvSpPr>
          <p:cNvPr id="3" name="Footer Placeholder 2">
            <a:extLst>
              <a:ext uri="{FF2B5EF4-FFF2-40B4-BE49-F238E27FC236}">
                <a16:creationId xmlns:a16="http://schemas.microsoft.com/office/drawing/2014/main" id="{6850FD48-F0B6-36F1-9C69-0E6B2A1E49E3}"/>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3E5BA9A9-8E92-F57C-8C84-F42A00DCA075}"/>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4/24/2026</a:t>
            </a:fld>
            <a:endParaRPr lang="en-US"/>
          </a:p>
        </p:txBody>
      </p:sp>
      <p:sp>
        <p:nvSpPr>
          <p:cNvPr id="5" name="Slide Number Placeholder 4">
            <a:extLst>
              <a:ext uri="{FF2B5EF4-FFF2-40B4-BE49-F238E27FC236}">
                <a16:creationId xmlns:a16="http://schemas.microsoft.com/office/drawing/2014/main" id="{6A7AE983-0D95-DFB4-CCAC-B13A2C5E810F}"/>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6</a:t>
            </a:fld>
            <a:endParaRPr lang="en-US"/>
          </a:p>
        </p:txBody>
      </p:sp>
      <p:sp>
        <p:nvSpPr>
          <p:cNvPr id="7" name="Content Placeholder 6">
            <a:extLst>
              <a:ext uri="{FF2B5EF4-FFF2-40B4-BE49-F238E27FC236}">
                <a16:creationId xmlns:a16="http://schemas.microsoft.com/office/drawing/2014/main" id="{7E594BAC-CABE-BFA6-D2FF-2109543A14C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Developer Tools Setup</a:t>
            </a:r>
          </a:p>
          <a:p>
            <a:pPr marL="0" lvl="1" indent="0">
              <a:buFont typeface="Arial" panose="020B0604020202020204" pitchFamily="34" charset="0"/>
              <a:buNone/>
            </a:pPr>
            <a:r>
              <a:rPr lang="en-US"/>
              <a:t>Git and GitHub accounts are essential for version control and repository management before starting CI/CD pipelines.</a:t>
            </a:r>
          </a:p>
          <a:p>
            <a:pPr marL="0" indent="0">
              <a:spcBef>
                <a:spcPts val="2500"/>
              </a:spcBef>
              <a:buFont typeface="Arial" panose="020B0604020202020204" pitchFamily="34" charset="0"/>
              <a:buNone/>
            </a:pPr>
            <a:r>
              <a:rPr lang="en-US" b="1"/>
              <a:t>.NET SDK Installation</a:t>
            </a:r>
          </a:p>
          <a:p>
            <a:pPr marL="0" lvl="1" indent="0">
              <a:buFont typeface="Arial" panose="020B0604020202020204" pitchFamily="34" charset="0"/>
              <a:buNone/>
            </a:pPr>
            <a:r>
              <a:rPr lang="en-US"/>
              <a:t>.NET SDK 8 must be installed locally to validate builds and tests prior to triggering continuous integration.</a:t>
            </a:r>
          </a:p>
          <a:p>
            <a:pPr marL="0" indent="0">
              <a:spcBef>
                <a:spcPts val="2500"/>
              </a:spcBef>
              <a:buFont typeface="Arial" panose="020B0604020202020204" pitchFamily="34" charset="0"/>
              <a:buNone/>
            </a:pPr>
            <a:r>
              <a:rPr lang="en-US" b="1"/>
              <a:t>Docker and Container Registries</a:t>
            </a:r>
          </a:p>
          <a:p>
            <a:pPr marL="0" lvl="1" indent="0">
              <a:buFont typeface="Arial" panose="020B0604020202020204" pitchFamily="34" charset="0"/>
              <a:buNone/>
            </a:pPr>
            <a:r>
              <a:rPr lang="en-US"/>
              <a:t>Docker is optional but recommended; container registries enable storing container images for deployment in CI/CD.</a:t>
            </a:r>
          </a:p>
          <a:p>
            <a:pPr marL="0" indent="0">
              <a:spcBef>
                <a:spcPts val="2500"/>
              </a:spcBef>
              <a:buFont typeface="Arial" panose="020B0604020202020204" pitchFamily="34" charset="0"/>
              <a:buNone/>
            </a:pPr>
            <a:r>
              <a:rPr lang="en-US" b="1"/>
              <a:t>Local Validation Best Practices</a:t>
            </a:r>
          </a:p>
          <a:p>
            <a:pPr marL="0" lvl="1" indent="0">
              <a:buFont typeface="Arial" panose="020B0604020202020204" pitchFamily="34" charset="0"/>
              <a:buNone/>
            </a:pPr>
            <a:r>
              <a:rPr lang="en-US"/>
              <a:t>Validating dotnet restore, build, test, and publish locally reduces CI failures and ensures smoother pipeline execution.</a:t>
            </a:r>
          </a:p>
        </p:txBody>
      </p:sp>
    </p:spTree>
    <p:extLst>
      <p:ext uri="{BB962C8B-B14F-4D97-AF65-F5344CB8AC3E}">
        <p14:creationId xmlns:p14="http://schemas.microsoft.com/office/powerpoint/2010/main" val="19522692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5B61C-EB4B-31C4-45A3-B39A03963266}"/>
              </a:ext>
            </a:extLst>
          </p:cNvPr>
          <p:cNvSpPr>
            <a:spLocks noGrp="1"/>
          </p:cNvSpPr>
          <p:nvPr>
            <p:ph type="title"/>
          </p:nvPr>
        </p:nvSpPr>
        <p:spPr>
          <a:xfrm>
            <a:off x="419100" y="4607626"/>
            <a:ext cx="4419600" cy="1640774"/>
          </a:xfrm>
        </p:spPr>
        <p:txBody>
          <a:bodyPr anchor="t">
            <a:normAutofit/>
          </a:bodyPr>
          <a:lstStyle/>
          <a:p>
            <a:r>
              <a:rPr lang="en-US"/>
              <a:t>CI, Docker, and Deployment Flow</a:t>
            </a:r>
          </a:p>
        </p:txBody>
      </p:sp>
      <p:pic>
        <p:nvPicPr>
          <p:cNvPr id="8" name="Content Placeholder 7"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09274B07-739F-4709-A84E-3A79E5F36E50}"/>
              </a:ext>
            </a:extLst>
          </p:cNvPr>
          <p:cNvPicPr>
            <a:picLocks noGrp="1" noChangeAspect="1"/>
          </p:cNvPicPr>
          <p:nvPr>
            <p:ph type="pic" sz="quarter" idx="15"/>
          </p:nvPr>
        </p:nvPicPr>
        <p:blipFill>
          <a:blip r:embed="rId3"/>
          <a:srcRect l="13241" r="677" b="-2"/>
          <a:stretch>
            <a:fillRect/>
          </a:stretch>
        </p:blipFill>
        <p:spPr>
          <a:xfrm>
            <a:off x="1914" y="10"/>
            <a:ext cx="4836786" cy="4214181"/>
          </a:xfrm>
        </p:spPr>
      </p:pic>
      <p:sp>
        <p:nvSpPr>
          <p:cNvPr id="3" name="Footer Placeholder 2">
            <a:extLst>
              <a:ext uri="{FF2B5EF4-FFF2-40B4-BE49-F238E27FC236}">
                <a16:creationId xmlns:a16="http://schemas.microsoft.com/office/drawing/2014/main" id="{2701B780-8722-A991-FA3B-2082ED4D9017}"/>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775ECC19-5F20-FA9E-718F-01E9045C3A55}"/>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4/24/2026</a:t>
            </a:fld>
            <a:endParaRPr lang="en-US"/>
          </a:p>
        </p:txBody>
      </p:sp>
      <p:sp>
        <p:nvSpPr>
          <p:cNvPr id="5" name="Slide Number Placeholder 4">
            <a:extLst>
              <a:ext uri="{FF2B5EF4-FFF2-40B4-BE49-F238E27FC236}">
                <a16:creationId xmlns:a16="http://schemas.microsoft.com/office/drawing/2014/main" id="{1B010597-BFD9-1B7E-7574-D0A97D4D9EAA}"/>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040712F0-E383-EA4C-9A67-08E15B25424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Automated CI Workflow</a:t>
            </a:r>
          </a:p>
          <a:p>
            <a:pPr marL="0" lvl="1" indent="0">
              <a:buFont typeface="Arial" panose="020B0604020202020204" pitchFamily="34" charset="0"/>
              <a:buNone/>
            </a:pPr>
            <a:r>
              <a:rPr lang="en-US"/>
              <a:t>Pushing code triggers CI workflows that build, test, publish, and create Docker images sequentially using dependency chains.</a:t>
            </a:r>
          </a:p>
          <a:p>
            <a:pPr marL="0" indent="0">
              <a:spcBef>
                <a:spcPts val="2500"/>
              </a:spcBef>
              <a:buFont typeface="Arial" panose="020B0604020202020204" pitchFamily="34" charset="0"/>
              <a:buNone/>
            </a:pPr>
            <a:r>
              <a:rPr lang="en-US" b="1"/>
              <a:t>Docker Image Management</a:t>
            </a:r>
          </a:p>
          <a:p>
            <a:pPr marL="0" lvl="1" indent="0">
              <a:buFont typeface="Arial" panose="020B0604020202020204" pitchFamily="34" charset="0"/>
              <a:buNone/>
            </a:pPr>
            <a:r>
              <a:rPr lang="en-US"/>
              <a:t>Docker images are built, saved as artifacts, and optionally pushed to container registries with secure secret management.</a:t>
            </a:r>
          </a:p>
          <a:p>
            <a:pPr marL="0" indent="0">
              <a:spcBef>
                <a:spcPts val="2500"/>
              </a:spcBef>
              <a:buFont typeface="Arial" panose="020B0604020202020204" pitchFamily="34" charset="0"/>
              <a:buNone/>
            </a:pPr>
            <a:r>
              <a:rPr lang="en-US" b="1"/>
              <a:t>Secure Secrets Handling</a:t>
            </a:r>
          </a:p>
          <a:p>
            <a:pPr marL="0" lvl="1" indent="0">
              <a:buFont typeface="Arial" panose="020B0604020202020204" pitchFamily="34" charset="0"/>
              <a:buNone/>
            </a:pPr>
            <a:r>
              <a:rPr lang="en-US"/>
              <a:t>Secrets are securely stored and passed only within application repos, keeping template repositories free of sensitive data.</a:t>
            </a:r>
          </a:p>
          <a:p>
            <a:pPr marL="0" indent="0">
              <a:spcBef>
                <a:spcPts val="2500"/>
              </a:spcBef>
              <a:buFont typeface="Arial" panose="020B0604020202020204" pitchFamily="34" charset="0"/>
              <a:buNone/>
            </a:pPr>
            <a:r>
              <a:rPr lang="en-US" b="1"/>
              <a:t>Flexible Deployment Workflow</a:t>
            </a:r>
          </a:p>
          <a:p>
            <a:pPr marL="0" lvl="1" indent="0">
              <a:buFont typeface="Arial" panose="020B0604020202020204" pitchFamily="34" charset="0"/>
              <a:buNone/>
            </a:pPr>
            <a:r>
              <a:rPr lang="en-US"/>
              <a:t>Deployment workflows support manual triggers, multi-site deployments using matrix strategies, and integration with external systems.</a:t>
            </a:r>
          </a:p>
        </p:txBody>
      </p:sp>
    </p:spTree>
    <p:extLst>
      <p:ext uri="{BB962C8B-B14F-4D97-AF65-F5344CB8AC3E}">
        <p14:creationId xmlns:p14="http://schemas.microsoft.com/office/powerpoint/2010/main" val="2148806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1451</Words>
  <Application>Microsoft Office PowerPoint</Application>
  <PresentationFormat>Widescreen</PresentationFormat>
  <Paragraphs>89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Neue Haas Grotesk Text Pro</vt:lpstr>
      <vt:lpstr>Film burn</vt:lpstr>
      <vt:lpstr>.NET 8 CI and Docker with Reusable GitHub Actions</vt:lpstr>
      <vt:lpstr>Overview of the CI/CD POC</vt:lpstr>
      <vt:lpstr>Primary Objectives</vt:lpstr>
      <vt:lpstr>Two-Repository Architecture</vt:lpstr>
      <vt:lpstr>Why Reusable Workflows</vt:lpstr>
      <vt:lpstr>Prerequisites and Setup</vt:lpstr>
      <vt:lpstr>CI, Docker, and Deployment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Soudasoth.61084038@ltimindtree.com</dc:creator>
  <cp:lastModifiedBy>Soudasoth Jyothi</cp:lastModifiedBy>
  <cp:revision>1</cp:revision>
  <dcterms:modified xsi:type="dcterms:W3CDTF">2026-04-24T12:57:20Z</dcterms:modified>
</cp:coreProperties>
</file>